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319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LOAD FORECASTING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Electricity Demand Forecasting:</a:t>
            </a:r>
            <a:endParaRPr lang="en-US" sz="4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vs LSTM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hourly power demand — and explaining why the model predicts what it does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95560" y="1051560"/>
            <a:ext cx="1005840" cy="10058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515600" y="13716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hourly load forecasting matters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must generate power close to real demand, every hour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Over-predicting demand wastes fuel and money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Under-predicting demand risks blackouts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forecast next-hour electricity demand accurately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tree model and a neural network, then explain both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737360"/>
            <a:ext cx="4480560" cy="4206240"/>
          </a:xfrm>
          <a:prstGeom prst="roundRect">
            <a:avLst>
              <a:gd name="adj" fmla="val 2609"/>
            </a:avLst>
          </a:prstGeom>
          <a:solidFill>
            <a:srgbClr val="F4F6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0" y="1965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Daily Demand Curve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5303520"/>
            <a:ext cx="3566160" cy="0"/>
          </a:xfrm>
          <a:prstGeom prst="line">
            <a:avLst/>
          </a:prstGeom>
          <a:noFill/>
          <a:ln w="15875">
            <a:solidFill>
              <a:srgbClr val="5B6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0" y="2560320"/>
            <a:ext cx="0" cy="2743200"/>
          </a:xfrm>
          <a:prstGeom prst="line">
            <a:avLst/>
          </a:prstGeom>
          <a:noFill/>
          <a:ln w="15875">
            <a:solidFill>
              <a:srgbClr val="5B6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498080" y="4343400"/>
            <a:ext cx="356616" cy="13716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 flipV="1">
            <a:off x="7854696" y="3794760"/>
            <a:ext cx="356616" cy="6858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V="1">
            <a:off x="8211312" y="3328416"/>
            <a:ext cx="356616" cy="466344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567928" y="3328416"/>
            <a:ext cx="285293" cy="329184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853221" y="3657600"/>
            <a:ext cx="356616" cy="27432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 flipV="1">
            <a:off x="9209837" y="3794760"/>
            <a:ext cx="356616" cy="13716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9566453" y="3163824"/>
            <a:ext cx="356616" cy="630936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9923069" y="2697480"/>
            <a:ext cx="356616" cy="466344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279685" y="2697480"/>
            <a:ext cx="285293" cy="41148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564978" y="3108960"/>
            <a:ext cx="285293" cy="68580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0850270" y="3794760"/>
            <a:ext cx="213970" cy="41148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11312" y="3008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peak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923069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5520" y="5376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 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 &amp;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+ weather data for Columbus (zipped CSV)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parsed, sorted, de-duplicated, set as index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demand values filled by linear interpolation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stripped, values coerced to clean numeric type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0" y="27432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223760" y="2743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138160" y="3246120"/>
            <a:ext cx="256032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94192" y="27432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94192" y="2743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308592" y="3246120"/>
            <a:ext cx="256032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564624" y="27432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564624" y="2743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Interpolate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479024" y="3246120"/>
            <a:ext cx="256032" cy="0"/>
          </a:xfrm>
          <a:prstGeom prst="line">
            <a:avLst/>
          </a:prstGeom>
          <a:noFill/>
          <a:ln w="19050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735056" y="2743200"/>
            <a:ext cx="914400" cy="100584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35056" y="27432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23760" y="4114800"/>
            <a:ext cx="4425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becomes a clean, ordered time series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features: hour, day of week, month, weekend flag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sin/cos encoding — hour 23 sits next to hour 0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demand 1h, 24h, and 168h (last week) ago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24h mean &amp; std capture recent trend and volatility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92440" y="2331720"/>
            <a:ext cx="2834640" cy="2834640"/>
          </a:xfrm>
          <a:prstGeom prst="ellipse">
            <a:avLst/>
          </a:prstGeom>
          <a:solidFill>
            <a:srgbClr val="F4F6FC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90888" y="2505456"/>
            <a:ext cx="237744" cy="237744"/>
          </a:xfrm>
          <a:prstGeom prst="ellipse">
            <a:avLst/>
          </a:prstGeom>
          <a:solidFill>
            <a:srgbClr val="D9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81160" y="250545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515600" y="3630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05872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390888" y="4754880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81160" y="47548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66176" y="3630168"/>
            <a:ext cx="237744" cy="237744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56448" y="36301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099791" y="2543780"/>
            <a:ext cx="237744" cy="237744"/>
          </a:xfrm>
          <a:prstGeom prst="ellipse">
            <a:avLst/>
          </a:prstGeom>
          <a:solidFill>
            <a:srgbClr val="D9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990063" y="2543780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5394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23 &amp; Hour 0 are neighbors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Encoding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Chronological train /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80% of the timeline → training data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20% (most recent) → test data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shuffle randomly — that leaks the future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the real task: learn from the past, predict ahead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8705088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45168" y="4023360"/>
            <a:ext cx="2176272" cy="91440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4023360"/>
            <a:ext cx="8705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80% (past)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45168" y="402336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20%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(recent)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881360" cy="0"/>
          </a:xfrm>
          <a:prstGeom prst="line">
            <a:avLst/>
          </a:prstGeom>
          <a:noFill/>
          <a:ln w="12700">
            <a:solidFill>
              <a:srgbClr val="5B6B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607040" y="5120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shuffling: the model can only ever look backward, exactly like real deployment.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MODEL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— gradient-boosted trees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trees, each correcting the last one's errors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trees, learning rate 0.03, 31 leaves per tree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halts training once test error stops improving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strong on tabular data, needs little tuning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4754880"/>
            <a:ext cx="91440" cy="457200"/>
          </a:xfrm>
          <a:prstGeom prst="rect">
            <a:avLst/>
          </a:prstGeom>
          <a:solidFill>
            <a:srgbClr val="5B6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78040" y="3840480"/>
            <a:ext cx="1005840" cy="68580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69480" y="3474720"/>
            <a:ext cx="822960" cy="5486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0" y="4754880"/>
            <a:ext cx="91440" cy="457200"/>
          </a:xfrm>
          <a:prstGeom prst="rect">
            <a:avLst/>
          </a:prstGeom>
          <a:solidFill>
            <a:srgbClr val="5B6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0" y="3840480"/>
            <a:ext cx="1005840" cy="68580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0" y="3474720"/>
            <a:ext cx="822960" cy="548640"/>
          </a:xfrm>
          <a:prstGeom prst="triangl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69880" y="4754880"/>
            <a:ext cx="91440" cy="457200"/>
          </a:xfrm>
          <a:prstGeom prst="rect">
            <a:avLst/>
          </a:prstGeom>
          <a:solidFill>
            <a:srgbClr val="5B6B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012680" y="3840480"/>
            <a:ext cx="1005840" cy="685800"/>
          </a:xfrm>
          <a:prstGeom prst="triangle">
            <a:avLst/>
          </a:prstGeom>
          <a:solidFill>
            <a:srgbClr val="D9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104120" y="3474720"/>
            <a:ext cx="822960" cy="548640"/>
          </a:xfrm>
          <a:prstGeom prst="triangle">
            <a:avLst/>
          </a:prstGeom>
          <a:solidFill>
            <a:srgbClr val="D9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1 → Tree 2 → ... → Tree 600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fixes the previous trees' mistakes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MODEL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 — sequence neural network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rolling 24-hour windows, not single rows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2-layer LSTM, 64 hidden units, final linear output layer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10 epochs with Adam optimizer, MSE loss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short &amp; long-term patterns across the sequence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51776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62672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84464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95360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906256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217152" y="3017520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040880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351776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62672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73568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84464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95360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06256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17152" y="3328416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40880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51776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62672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973568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84464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595360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06256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217152" y="3639312"/>
            <a:ext cx="256032" cy="256032"/>
          </a:xfrm>
          <a:prstGeom prst="rect">
            <a:avLst/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040880" y="267004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24 hours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65208" y="3209544"/>
            <a:ext cx="548640" cy="0"/>
          </a:xfrm>
          <a:prstGeom prst="line">
            <a:avLst/>
          </a:prstGeom>
          <a:noFill/>
          <a:ln w="22225">
            <a:solidFill>
              <a:srgbClr val="5B6B9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351008" y="3154680"/>
            <a:ext cx="685800" cy="685800"/>
          </a:xfrm>
          <a:prstGeom prst="roundRect">
            <a:avLst>
              <a:gd name="adj" fmla="val 10667"/>
            </a:avLst>
          </a:prstGeom>
          <a:solidFill>
            <a:srgbClr val="D9A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51008" y="3154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13848" y="393192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two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average error size, in megawatts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penalizes large mistakes more heavily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— average percentage error, easy to communicate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better on all three metrics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6609018"/>
              </p:ext>
            </p:extLst>
          </p:nvPr>
        </p:nvGraphicFramePr>
        <p:xfrm>
          <a:off x="822960" y="3703320"/>
          <a:ext cx="1051560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2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(MW)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2295.44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2298.26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i="1" dirty="0">
                          <a:solidFill>
                            <a:srgbClr val="5B6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 with SHAP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plot — which features matter most, overall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 — why one specific hour was predicted that way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alone isn't trustworthy for grid planning decisions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opens the black box and builds stakeholder trust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0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503920" y="2148840"/>
            <a:ext cx="2834640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26883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503920" y="2734056"/>
            <a:ext cx="2324405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0" y="3273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503920" y="3319272"/>
            <a:ext cx="1870862" cy="292608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0" y="38587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Rolling_Mean_24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503920" y="3904488"/>
            <a:ext cx="1417320" cy="29260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44439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Lag_168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03920" y="4489704"/>
            <a:ext cx="1020470" cy="292608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(SHAP)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&amp; Q&amp;A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2140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21031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(lags, cyclical time) drives most of the signal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898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avoids data leakage in time series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367588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675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36576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models compared fairly, side by side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445312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4453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predictions — not just accuracy, but trust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310896" cy="310896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71600" y="521208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forecasting supports real grid-planning decisions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612</Words>
  <Application>Microsoft Office PowerPoint</Application>
  <PresentationFormat>Widescreen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Addan .</cp:lastModifiedBy>
  <cp:revision>2</cp:revision>
  <dcterms:created xsi:type="dcterms:W3CDTF">2026-08-19T08:43:10Z</dcterms:created>
  <dcterms:modified xsi:type="dcterms:W3CDTF">2026-08-19T08:49:10Z</dcterms:modified>
</cp:coreProperties>
</file>